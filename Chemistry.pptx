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importance of metals in smartphone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fundamental reasons metals are used.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the surprising number of elements involved.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touchscreen technology.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color generation in displays.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structural materials.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copper’s conductivity.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battery chemistry.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safety aspects.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evolving battery materials.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precious metal usage.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with other conductors.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manufacturing processes.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haptic technology.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alloy usage.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internal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protective roles.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electronic stability.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Mention advanced functions.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environmental issues.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recycling benefits.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outlook.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 chemistry to technology.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key points and emphasize importance.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Metals in Mobile Phones</a:t>
            </a:r>
          </a:p>
        </p:txBody>
      </p:sp>
      <p:sp>
        <p:nvSpPr>
          <p:cNvPr id="3" name="Subtitle 2"/>
          <p:cNvSpPr>
            <a:spLocks noGrp="1"/>
          </p:cNvSpPr>
          <p:nvPr>
            <p:ph type="subTitle" idx="1"/>
          </p:nvPr>
        </p:nvSpPr>
        <p:spPr/>
        <p:txBody>
          <a:bodyPr/>
          <a:lstStyle/>
          <a:p>
            <a:r>
              <a:t>A Chemistry Experiential Learning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to Metals Used in Mobile Phones</a:t>
            </a:r>
          </a:p>
          <a:p>
            <a:pPr lvl="1"/>
            <a:r>
              <a:t>Overview of Metallic Components</a:t>
            </a:r>
          </a:p>
        </p:txBody>
      </p:sp>
      <p:sp>
        <p:nvSpPr>
          <p:cNvPr id="3" name="Content Placeholder 2"/>
          <p:cNvSpPr>
            <a:spLocks noGrp="1"/>
          </p:cNvSpPr>
          <p:nvPr>
            <p:ph idx="1"/>
          </p:nvPr>
        </p:nvSpPr>
        <p:spPr/>
        <p:txBody>
          <a:bodyPr/>
          <a:lstStyle/>
          <a:p>
            <a:pPr/>
            <a:r>
              <a:rPr sz="1800" b="0">
                <a:solidFill>
                  <a:srgbClr val="000000"/>
                </a:solidFill>
                <a:latin typeface="Calibri"/>
              </a:rPr>
              <a:t>Modern mobile phones are complex electronic devices composed of numerous metallic elements. These metals are essential for structural integrity, electrical conductivity, energy storage, and functional performance. Understanding the role of metals provides insight into both technological advancement and material science.</a:t>
            </a:r>
          </a:p>
          <a:p>
            <a:pPr/>
            <a:r>
              <a:rPr sz="1800" b="0">
                <a:solidFill>
                  <a:srgbClr val="000000"/>
                </a:solidFill>
                <a:latin typeface="Calibri"/>
              </a:rPr>
              <a:t>Metals as fundamental building blocks of smartphones</a:t>
            </a:r>
          </a:p>
          <a:p>
            <a:pPr/>
            <a:r>
              <a:rPr sz="1800" b="0">
                <a:solidFill>
                  <a:srgbClr val="000000"/>
                </a:solidFill>
                <a:latin typeface="Calibri"/>
              </a:rPr>
              <a:t>Wide range of metallic elements involved</a:t>
            </a:r>
          </a:p>
          <a:p>
            <a:pPr/>
            <a:r>
              <a:rPr sz="1800" b="0">
                <a:solidFill>
                  <a:srgbClr val="000000"/>
                </a:solidFill>
                <a:latin typeface="Calibri"/>
              </a:rPr>
              <a:t>Critical role in electronic and mechanical functions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Metals Are Essential in Smartphones</a:t>
            </a:r>
          </a:p>
          <a:p>
            <a:pPr lvl="1"/>
            <a:r>
              <a:t>Basic Functional Importance</a:t>
            </a:r>
          </a:p>
        </p:txBody>
      </p:sp>
      <p:sp>
        <p:nvSpPr>
          <p:cNvPr id="3" name="Content Placeholder 2"/>
          <p:cNvSpPr>
            <a:spLocks noGrp="1"/>
          </p:cNvSpPr>
          <p:nvPr>
            <p:ph idx="1"/>
          </p:nvPr>
        </p:nvSpPr>
        <p:spPr/>
        <p:txBody>
          <a:bodyPr/>
          <a:lstStyle/>
          <a:p>
            <a:pPr/>
            <a:r>
              <a:rPr sz="1800" b="0">
                <a:solidFill>
                  <a:srgbClr val="000000"/>
                </a:solidFill>
                <a:latin typeface="Calibri"/>
              </a:rPr>
              <a:t>Metals are indispensable in smartphones because of their electrical, thermal, and mechanical properties. They enable efficient signal transmission, heat dissipation, and physical durability. Without metals, the compact and powerful design of modern smartphones would not be possible.</a:t>
            </a:r>
          </a:p>
          <a:p>
            <a:pPr/>
            <a:r>
              <a:rPr sz="1800" b="0">
                <a:solidFill>
                  <a:srgbClr val="000000"/>
                </a:solidFill>
                <a:latin typeface="Calibri"/>
              </a:rPr>
              <a:t>Excellent electrical conductivity</a:t>
            </a:r>
          </a:p>
          <a:p>
            <a:pPr/>
            <a:r>
              <a:rPr sz="1800" b="0">
                <a:solidFill>
                  <a:srgbClr val="000000"/>
                </a:solidFill>
                <a:latin typeface="Calibri"/>
              </a:rPr>
              <a:t>High strength and durability</a:t>
            </a:r>
          </a:p>
          <a:p>
            <a:pPr/>
            <a:r>
              <a:rPr sz="1800" b="0">
                <a:solidFill>
                  <a:srgbClr val="000000"/>
                </a:solidFill>
                <a:latin typeface="Calibri"/>
              </a:rPr>
              <a:t>Efficient heat management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Number of Metals Present in Smartphones</a:t>
            </a:r>
          </a:p>
          <a:p>
            <a:pPr lvl="1"/>
            <a:r>
              <a:t>Elemental Diversity</a:t>
            </a:r>
          </a:p>
        </p:txBody>
      </p:sp>
      <p:sp>
        <p:nvSpPr>
          <p:cNvPr id="3" name="Content Placeholder 2"/>
          <p:cNvSpPr>
            <a:spLocks noGrp="1"/>
          </p:cNvSpPr>
          <p:nvPr>
            <p:ph idx="1"/>
          </p:nvPr>
        </p:nvSpPr>
        <p:spPr/>
        <p:txBody>
          <a:bodyPr/>
          <a:lstStyle/>
          <a:p>
            <a:pPr/>
            <a:r>
              <a:rPr sz="1800" b="0">
                <a:solidFill>
                  <a:srgbClr val="000000"/>
                </a:solidFill>
                <a:latin typeface="Calibri"/>
              </a:rPr>
              <a:t>A typical smartphone contains more than 60 different chemical elements, many of which are metals. These metals are distributed across various components such as batteries, circuit boards, displays, and casings, highlighting the elemental complexity of mobile devices.</a:t>
            </a:r>
          </a:p>
          <a:p>
            <a:pPr/>
            <a:r>
              <a:rPr sz="1800" b="0">
                <a:solidFill>
                  <a:srgbClr val="000000"/>
                </a:solidFill>
                <a:latin typeface="Calibri"/>
              </a:rPr>
              <a:t>Over 60 elements identified in smartphones</a:t>
            </a:r>
          </a:p>
          <a:p>
            <a:pPr/>
            <a:r>
              <a:rPr sz="1800" b="0">
                <a:solidFill>
                  <a:srgbClr val="000000"/>
                </a:solidFill>
                <a:latin typeface="Calibri"/>
              </a:rPr>
              <a:t>Includes common, precious, and rare metals</a:t>
            </a:r>
          </a:p>
          <a:p>
            <a:pPr/>
            <a:r>
              <a:rPr sz="1800" b="0">
                <a:solidFill>
                  <a:srgbClr val="000000"/>
                </a:solidFill>
                <a:latin typeface="Calibri"/>
              </a:rPr>
              <a:t>High level of material diversity</a:t>
            </a:r>
          </a:p>
        </p:txBody>
      </p:sp>
      <p:pic>
        <p:nvPicPr>
          <p:cNvPr id="4" name="Picture 3" descr="periodic_phone.png"/>
          <p:cNvPicPr>
            <a:picLocks noChangeAspect="1"/>
          </p:cNvPicPr>
          <p:nvPr/>
        </p:nvPicPr>
        <p:blipFill>
          <a:blip r:embed="rId2"/>
          <a:stretch>
            <a:fillRect/>
          </a:stretch>
        </p:blipFill>
        <p:spPr>
          <a:xfrm>
            <a:off x="457200" y="2286000"/>
            <a:ext cx="7132320" cy="71323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Use of Indium in Smartphones</a:t>
            </a:r>
          </a:p>
          <a:p>
            <a:pPr lvl="1"/>
            <a:r>
              <a:t>Transparent Conductive Materials</a:t>
            </a:r>
          </a:p>
        </p:txBody>
      </p:sp>
      <p:sp>
        <p:nvSpPr>
          <p:cNvPr id="3" name="Content Placeholder 2"/>
          <p:cNvSpPr>
            <a:spLocks noGrp="1"/>
          </p:cNvSpPr>
          <p:nvPr>
            <p:ph idx="1"/>
          </p:nvPr>
        </p:nvSpPr>
        <p:spPr/>
        <p:txBody>
          <a:bodyPr/>
          <a:lstStyle/>
          <a:p>
            <a:pPr/>
            <a:r>
              <a:rPr sz="1800" b="0">
                <a:solidFill>
                  <a:srgbClr val="000000"/>
                </a:solidFill>
                <a:latin typeface="Calibri"/>
              </a:rPr>
              <a:t>Indium is primarily used in the form of indium tin oxide (ITO), which is a transparent and conductive material. It is essential for touchscreens, allowing displays to respond accurately to user interaction while maintaining optical clarity.</a:t>
            </a:r>
          </a:p>
          <a:p>
            <a:pPr/>
            <a:r>
              <a:rPr sz="1800" b="0">
                <a:solidFill>
                  <a:srgbClr val="000000"/>
                </a:solidFill>
                <a:latin typeface="Calibri"/>
              </a:rPr>
              <a:t>Used as indium tin oxide (ITO)</a:t>
            </a:r>
          </a:p>
          <a:p>
            <a:pPr/>
            <a:r>
              <a:rPr sz="1800" b="0">
                <a:solidFill>
                  <a:srgbClr val="000000"/>
                </a:solidFill>
                <a:latin typeface="Calibri"/>
              </a:rPr>
              <a:t>Combines transparency with conductivity</a:t>
            </a:r>
          </a:p>
          <a:p>
            <a:pPr/>
            <a:r>
              <a:rPr sz="1800" b="0">
                <a:solidFill>
                  <a:srgbClr val="000000"/>
                </a:solidFill>
                <a:latin typeface="Calibri"/>
              </a:rPr>
              <a:t>Critical for touchscreen functionality</a:t>
            </a:r>
          </a:p>
        </p:txBody>
      </p:sp>
      <p:pic>
        <p:nvPicPr>
          <p:cNvPr id="4" name="Picture 3" descr="periodic_phone.png"/>
          <p:cNvPicPr>
            <a:picLocks noChangeAspect="1"/>
          </p:cNvPicPr>
          <p:nvPr/>
        </p:nvPicPr>
        <p:blipFill>
          <a:blip r:embed="rId2"/>
          <a:stretch>
            <a:fillRect/>
          </a:stretch>
        </p:blipFill>
        <p:spPr>
          <a:xfrm>
            <a:off x="457200" y="2286000"/>
            <a:ext cx="7132320" cy="71323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Rare Earth Metals and Display Color</a:t>
            </a:r>
          </a:p>
          <a:p>
            <a:pPr lvl="1"/>
            <a:r>
              <a:t>Enhancing Visual Performance</a:t>
            </a:r>
          </a:p>
        </p:txBody>
      </p:sp>
      <p:sp>
        <p:nvSpPr>
          <p:cNvPr id="3" name="Content Placeholder 2"/>
          <p:cNvSpPr>
            <a:spLocks noGrp="1"/>
          </p:cNvSpPr>
          <p:nvPr>
            <p:ph idx="1"/>
          </p:nvPr>
        </p:nvSpPr>
        <p:spPr/>
        <p:txBody>
          <a:bodyPr/>
          <a:lstStyle/>
          <a:p>
            <a:pPr/>
            <a:r>
              <a:rPr sz="1800" b="0">
                <a:solidFill>
                  <a:srgbClr val="000000"/>
                </a:solidFill>
                <a:latin typeface="Calibri"/>
              </a:rPr>
              <a:t>Rare earth metals such as europium, terbium, and yttrium are used in smartphone displays to produce vivid and accurate colors. These elements are integral to phosphors and light-emitting components, significantly enhancing screen quality.</a:t>
            </a:r>
          </a:p>
          <a:p>
            <a:pPr/>
            <a:r>
              <a:rPr sz="1800" b="0">
                <a:solidFill>
                  <a:srgbClr val="000000"/>
                </a:solidFill>
                <a:latin typeface="Calibri"/>
              </a:rPr>
              <a:t>Europium for red color emission</a:t>
            </a:r>
          </a:p>
          <a:p>
            <a:pPr/>
            <a:r>
              <a:rPr sz="1800" b="0">
                <a:solidFill>
                  <a:srgbClr val="000000"/>
                </a:solidFill>
                <a:latin typeface="Calibri"/>
              </a:rPr>
              <a:t>Terbium for green color emission</a:t>
            </a:r>
          </a:p>
          <a:p>
            <a:pPr/>
            <a:r>
              <a:rPr sz="1800" b="0">
                <a:solidFill>
                  <a:srgbClr val="000000"/>
                </a:solidFill>
                <a:latin typeface="Calibri"/>
              </a:rPr>
              <a:t>Yttrium as a host material</a:t>
            </a:r>
          </a:p>
        </p:txBody>
      </p:sp>
      <p:pic>
        <p:nvPicPr>
          <p:cNvPr id="4" name="Picture 3" descr="periodic_phone.png"/>
          <p:cNvPicPr>
            <a:picLocks noChangeAspect="1"/>
          </p:cNvPicPr>
          <p:nvPr/>
        </p:nvPicPr>
        <p:blipFill>
          <a:blip r:embed="rId2"/>
          <a:stretch>
            <a:fillRect/>
          </a:stretch>
        </p:blipFill>
        <p:spPr>
          <a:xfrm>
            <a:off x="457200" y="2286000"/>
            <a:ext cx="7132320" cy="71323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Aluminum in Smartphone Bodies</a:t>
            </a:r>
          </a:p>
          <a:p>
            <a:pPr lvl="1"/>
            <a:r>
              <a:t>Lightweight Structural Material</a:t>
            </a:r>
          </a:p>
        </p:txBody>
      </p:sp>
      <p:sp>
        <p:nvSpPr>
          <p:cNvPr id="3" name="Content Placeholder 2"/>
          <p:cNvSpPr>
            <a:spLocks noGrp="1"/>
          </p:cNvSpPr>
          <p:nvPr>
            <p:ph idx="1"/>
          </p:nvPr>
        </p:nvSpPr>
        <p:spPr/>
        <p:txBody>
          <a:bodyPr/>
          <a:lstStyle/>
          <a:p>
            <a:pPr/>
            <a:r>
              <a:rPr sz="1800" b="0">
                <a:solidFill>
                  <a:srgbClr val="000000"/>
                </a:solidFill>
                <a:latin typeface="Calibri"/>
              </a:rPr>
              <a:t>Aluminum is widely used in smartphone frames and casings due to its low density, high strength-to-weight ratio, and corrosion resistance. It contributes to sleek designs while maintaining durability.</a:t>
            </a:r>
          </a:p>
          <a:p>
            <a:pPr/>
            <a:r>
              <a:rPr sz="1800" b="0">
                <a:solidFill>
                  <a:srgbClr val="000000"/>
                </a:solidFill>
                <a:latin typeface="Calibri"/>
              </a:rPr>
              <a:t>Lightweight and strong</a:t>
            </a:r>
          </a:p>
          <a:p>
            <a:pPr/>
            <a:r>
              <a:rPr sz="1800" b="0">
                <a:solidFill>
                  <a:srgbClr val="000000"/>
                </a:solidFill>
                <a:latin typeface="Calibri"/>
              </a:rPr>
              <a:t>Corrosion resistant</a:t>
            </a:r>
          </a:p>
          <a:p>
            <a:pPr/>
            <a:r>
              <a:rPr sz="1800" b="0">
                <a:solidFill>
                  <a:srgbClr val="000000"/>
                </a:solidFill>
                <a:latin typeface="Calibri"/>
              </a:rPr>
              <a:t>Enhances aesthetic design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Copper in Electrical Circuits</a:t>
            </a:r>
          </a:p>
          <a:p>
            <a:pPr lvl="1"/>
            <a:r>
              <a:t>Efficient Signal Transmission</a:t>
            </a:r>
          </a:p>
        </p:txBody>
      </p:sp>
      <p:sp>
        <p:nvSpPr>
          <p:cNvPr id="3" name="Content Placeholder 2"/>
          <p:cNvSpPr>
            <a:spLocks noGrp="1"/>
          </p:cNvSpPr>
          <p:nvPr>
            <p:ph idx="1"/>
          </p:nvPr>
        </p:nvSpPr>
        <p:spPr/>
        <p:txBody>
          <a:bodyPr/>
          <a:lstStyle/>
          <a:p>
            <a:pPr/>
            <a:r>
              <a:rPr sz="1800" b="0">
                <a:solidFill>
                  <a:srgbClr val="000000"/>
                </a:solidFill>
                <a:latin typeface="Calibri"/>
              </a:rPr>
              <a:t>Copper is the primary metal used in smartphone wiring and printed circuit boards. Its excellent electrical conductivity ensures efficient transmission of power and data throughout the device.</a:t>
            </a:r>
          </a:p>
          <a:p>
            <a:pPr/>
            <a:r>
              <a:rPr sz="1800" b="0">
                <a:solidFill>
                  <a:srgbClr val="000000"/>
                </a:solidFill>
                <a:latin typeface="Calibri"/>
              </a:rPr>
              <a:t>High electrical conductivity</a:t>
            </a:r>
          </a:p>
          <a:p>
            <a:pPr/>
            <a:r>
              <a:rPr sz="1800" b="0">
                <a:solidFill>
                  <a:srgbClr val="000000"/>
                </a:solidFill>
                <a:latin typeface="Calibri"/>
              </a:rPr>
              <a:t>Used in circuit boards</a:t>
            </a:r>
          </a:p>
          <a:p>
            <a:pPr/>
            <a:r>
              <a:rPr sz="1800" b="0">
                <a:solidFill>
                  <a:srgbClr val="000000"/>
                </a:solidFill>
                <a:latin typeface="Calibri"/>
              </a:rPr>
              <a:t>Essential for power distribution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Lithium in Smartphone Batteries</a:t>
            </a:r>
          </a:p>
          <a:p>
            <a:pPr lvl="1"/>
            <a:r>
              <a:t>Energy Storage Metal</a:t>
            </a:r>
          </a:p>
        </p:txBody>
      </p:sp>
      <p:sp>
        <p:nvSpPr>
          <p:cNvPr id="3" name="Content Placeholder 2"/>
          <p:cNvSpPr>
            <a:spLocks noGrp="1"/>
          </p:cNvSpPr>
          <p:nvPr>
            <p:ph idx="1"/>
          </p:nvPr>
        </p:nvSpPr>
        <p:spPr/>
        <p:txBody>
          <a:bodyPr/>
          <a:lstStyle/>
          <a:p>
            <a:pPr/>
            <a:r>
              <a:rPr sz="1800" b="0">
                <a:solidFill>
                  <a:srgbClr val="000000"/>
                </a:solidFill>
                <a:latin typeface="Calibri"/>
              </a:rPr>
              <a:t>Lithium is a key component of lithium-ion batteries used in smartphones. Its high electrochemical potential allows for lightweight batteries with high energy density.</a:t>
            </a:r>
          </a:p>
          <a:p>
            <a:pPr/>
            <a:r>
              <a:rPr sz="1800" b="0">
                <a:solidFill>
                  <a:srgbClr val="000000"/>
                </a:solidFill>
                <a:latin typeface="Calibri"/>
              </a:rPr>
              <a:t>High energy density</a:t>
            </a:r>
          </a:p>
          <a:p>
            <a:pPr/>
            <a:r>
              <a:rPr sz="1800" b="0">
                <a:solidFill>
                  <a:srgbClr val="000000"/>
                </a:solidFill>
                <a:latin typeface="Calibri"/>
              </a:rPr>
              <a:t>Rechargeable battery technology</a:t>
            </a:r>
          </a:p>
          <a:p>
            <a:pPr/>
            <a:r>
              <a:rPr sz="1800" b="0">
                <a:solidFill>
                  <a:srgbClr val="000000"/>
                </a:solidFill>
                <a:latin typeface="Calibri"/>
              </a:rPr>
              <a:t>Supports long battery life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Cobalt in Battery Stability</a:t>
            </a:r>
          </a:p>
          <a:p>
            <a:pPr lvl="1"/>
            <a:r>
              <a:t>Enhancing Battery Performance</a:t>
            </a:r>
          </a:p>
        </p:txBody>
      </p:sp>
      <p:sp>
        <p:nvSpPr>
          <p:cNvPr id="3" name="Content Placeholder 2"/>
          <p:cNvSpPr>
            <a:spLocks noGrp="1"/>
          </p:cNvSpPr>
          <p:nvPr>
            <p:ph idx="1"/>
          </p:nvPr>
        </p:nvSpPr>
        <p:spPr/>
        <p:txBody>
          <a:bodyPr/>
          <a:lstStyle/>
          <a:p>
            <a:pPr/>
            <a:r>
              <a:rPr sz="1800" b="0">
                <a:solidFill>
                  <a:srgbClr val="000000"/>
                </a:solidFill>
                <a:latin typeface="Calibri"/>
              </a:rPr>
              <a:t>Cobalt is used in battery cathodes to improve energy density and thermal stability. It plays a significant role in ensuring safe and efficient battery operation.</a:t>
            </a:r>
          </a:p>
          <a:p>
            <a:pPr/>
            <a:r>
              <a:rPr sz="1800" b="0">
                <a:solidFill>
                  <a:srgbClr val="000000"/>
                </a:solidFill>
                <a:latin typeface="Calibri"/>
              </a:rPr>
              <a:t>Improves battery lifespan</a:t>
            </a:r>
          </a:p>
          <a:p>
            <a:pPr/>
            <a:r>
              <a:rPr sz="1800" b="0">
                <a:solidFill>
                  <a:srgbClr val="000000"/>
                </a:solidFill>
                <a:latin typeface="Calibri"/>
              </a:rPr>
              <a:t>Enhances thermal stability</a:t>
            </a:r>
          </a:p>
          <a:p>
            <a:pPr/>
            <a:r>
              <a:rPr sz="1800" b="0">
                <a:solidFill>
                  <a:srgbClr val="000000"/>
                </a:solidFill>
                <a:latin typeface="Calibri"/>
              </a:rPr>
              <a:t>Critical for safety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Nickel in Battery Technology</a:t>
            </a:r>
          </a:p>
          <a:p>
            <a:pPr lvl="1"/>
            <a:r>
              <a:t>Increasing Energy Capacity</a:t>
            </a:r>
          </a:p>
        </p:txBody>
      </p:sp>
      <p:sp>
        <p:nvSpPr>
          <p:cNvPr id="3" name="Content Placeholder 2"/>
          <p:cNvSpPr>
            <a:spLocks noGrp="1"/>
          </p:cNvSpPr>
          <p:nvPr>
            <p:ph idx="1"/>
          </p:nvPr>
        </p:nvSpPr>
        <p:spPr/>
        <p:txBody>
          <a:bodyPr/>
          <a:lstStyle/>
          <a:p>
            <a:pPr/>
            <a:r>
              <a:rPr sz="1800" b="0">
                <a:solidFill>
                  <a:srgbClr val="000000"/>
                </a:solidFill>
                <a:latin typeface="Calibri"/>
              </a:rPr>
              <a:t>Nickel is increasingly used in lithium-ion batteries to boost energy capacity and reduce reliance on cobalt. It contributes to higher performance batteries.</a:t>
            </a:r>
          </a:p>
          <a:p>
            <a:pPr/>
            <a:r>
              <a:rPr sz="1800" b="0">
                <a:solidFill>
                  <a:srgbClr val="000000"/>
                </a:solidFill>
                <a:latin typeface="Calibri"/>
              </a:rPr>
              <a:t>Increases energy density</a:t>
            </a:r>
          </a:p>
          <a:p>
            <a:pPr/>
            <a:r>
              <a:rPr sz="1800" b="0">
                <a:solidFill>
                  <a:srgbClr val="000000"/>
                </a:solidFill>
                <a:latin typeface="Calibri"/>
              </a:rPr>
              <a:t>Reduces cobalt usage</a:t>
            </a:r>
          </a:p>
          <a:p>
            <a:pPr/>
            <a:r>
              <a:rPr sz="1800" b="0">
                <a:solidFill>
                  <a:srgbClr val="000000"/>
                </a:solidFill>
                <a:latin typeface="Calibri"/>
              </a:rPr>
              <a:t>Supports sustainable battery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Gold in Smartphones</a:t>
            </a:r>
          </a:p>
          <a:p>
            <a:pPr lvl="1"/>
            <a:r>
              <a:t>Reliable Electrical Contacts</a:t>
            </a:r>
          </a:p>
        </p:txBody>
      </p:sp>
      <p:sp>
        <p:nvSpPr>
          <p:cNvPr id="3" name="Content Placeholder 2"/>
          <p:cNvSpPr>
            <a:spLocks noGrp="1"/>
          </p:cNvSpPr>
          <p:nvPr>
            <p:ph idx="1"/>
          </p:nvPr>
        </p:nvSpPr>
        <p:spPr/>
        <p:txBody>
          <a:bodyPr/>
          <a:lstStyle/>
          <a:p>
            <a:pPr/>
            <a:r>
              <a:rPr sz="1800" b="0">
                <a:solidFill>
                  <a:srgbClr val="000000"/>
                </a:solidFill>
                <a:latin typeface="Calibri"/>
              </a:rPr>
              <a:t>Gold is used in connectors and contacts due to its excellent conductivity and resistance to corrosion. Even small amounts significantly enhance reliability.</a:t>
            </a:r>
          </a:p>
          <a:p>
            <a:pPr/>
            <a:r>
              <a:rPr sz="1800" b="0">
                <a:solidFill>
                  <a:srgbClr val="000000"/>
                </a:solidFill>
                <a:latin typeface="Calibri"/>
              </a:rPr>
              <a:t>Highly corrosion resistant</a:t>
            </a:r>
          </a:p>
          <a:p>
            <a:pPr/>
            <a:r>
              <a:rPr sz="1800" b="0">
                <a:solidFill>
                  <a:srgbClr val="000000"/>
                </a:solidFill>
                <a:latin typeface="Calibri"/>
              </a:rPr>
              <a:t>Stable electrical performance</a:t>
            </a:r>
          </a:p>
          <a:p>
            <a:pPr/>
            <a:r>
              <a:rPr sz="1800" b="0">
                <a:solidFill>
                  <a:srgbClr val="000000"/>
                </a:solidFill>
                <a:latin typeface="Calibri"/>
              </a:rPr>
              <a:t>Used in micro-connectors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Silver in Electronic Components</a:t>
            </a:r>
          </a:p>
          <a:p>
            <a:pPr lvl="1"/>
            <a:r>
              <a:t>High Conductivity Metal</a:t>
            </a:r>
          </a:p>
        </p:txBody>
      </p:sp>
      <p:sp>
        <p:nvSpPr>
          <p:cNvPr id="3" name="Content Placeholder 2"/>
          <p:cNvSpPr>
            <a:spLocks noGrp="1"/>
          </p:cNvSpPr>
          <p:nvPr>
            <p:ph idx="1"/>
          </p:nvPr>
        </p:nvSpPr>
        <p:spPr/>
        <p:txBody>
          <a:bodyPr/>
          <a:lstStyle/>
          <a:p>
            <a:pPr/>
            <a:r>
              <a:rPr sz="1800" b="0">
                <a:solidFill>
                  <a:srgbClr val="000000"/>
                </a:solidFill>
                <a:latin typeface="Calibri"/>
              </a:rPr>
              <a:t>Silver is employed in soldering and conductive pastes. It offers the highest electrical conductivity among metals, improving circuit efficiency.</a:t>
            </a:r>
          </a:p>
          <a:p>
            <a:pPr/>
            <a:r>
              <a:rPr sz="1800" b="0">
                <a:solidFill>
                  <a:srgbClr val="000000"/>
                </a:solidFill>
                <a:latin typeface="Calibri"/>
              </a:rPr>
              <a:t>Highest electrical conductivity</a:t>
            </a:r>
          </a:p>
          <a:p>
            <a:pPr/>
            <a:r>
              <a:rPr sz="1800" b="0">
                <a:solidFill>
                  <a:srgbClr val="000000"/>
                </a:solidFill>
                <a:latin typeface="Calibri"/>
              </a:rPr>
              <a:t>Used in solder materials</a:t>
            </a:r>
          </a:p>
          <a:p>
            <a:pPr/>
            <a:r>
              <a:rPr sz="1800" b="0">
                <a:solidFill>
                  <a:srgbClr val="000000"/>
                </a:solidFill>
                <a:latin typeface="Calibri"/>
              </a:rPr>
              <a:t>Enhances signal quality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Tin in Soldering</a:t>
            </a:r>
          </a:p>
          <a:p>
            <a:pPr lvl="1"/>
            <a:r>
              <a:t>Component Assembly</a:t>
            </a:r>
          </a:p>
        </p:txBody>
      </p:sp>
      <p:sp>
        <p:nvSpPr>
          <p:cNvPr id="3" name="Content Placeholder 2"/>
          <p:cNvSpPr>
            <a:spLocks noGrp="1"/>
          </p:cNvSpPr>
          <p:nvPr>
            <p:ph idx="1"/>
          </p:nvPr>
        </p:nvSpPr>
        <p:spPr/>
        <p:txBody>
          <a:bodyPr/>
          <a:lstStyle/>
          <a:p>
            <a:pPr/>
            <a:r>
              <a:rPr sz="1800" b="0">
                <a:solidFill>
                  <a:srgbClr val="000000"/>
                </a:solidFill>
                <a:latin typeface="Calibri"/>
              </a:rPr>
              <a:t>Tin-based solders are used to join electronic components on circuit boards. Tin provides strong, conductive joints essential for device functionality.</a:t>
            </a:r>
          </a:p>
          <a:p>
            <a:pPr/>
            <a:r>
              <a:rPr sz="1800" b="0">
                <a:solidFill>
                  <a:srgbClr val="000000"/>
                </a:solidFill>
                <a:latin typeface="Calibri"/>
              </a:rPr>
              <a:t>Used in solder alloys</a:t>
            </a:r>
          </a:p>
          <a:p>
            <a:pPr/>
            <a:r>
              <a:rPr sz="1800" b="0">
                <a:solidFill>
                  <a:srgbClr val="000000"/>
                </a:solidFill>
                <a:latin typeface="Calibri"/>
              </a:rPr>
              <a:t>Ensures strong connections</a:t>
            </a:r>
          </a:p>
          <a:p>
            <a:pPr/>
            <a:r>
              <a:rPr sz="1800" b="0">
                <a:solidFill>
                  <a:srgbClr val="000000"/>
                </a:solidFill>
                <a:latin typeface="Calibri"/>
              </a:rPr>
              <a:t>Essential for assembly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Tungsten in Vibration Motors</a:t>
            </a:r>
          </a:p>
          <a:p>
            <a:pPr lvl="1"/>
            <a:r>
              <a:t>Haptic Feedback</a:t>
            </a:r>
          </a:p>
        </p:txBody>
      </p:sp>
      <p:sp>
        <p:nvSpPr>
          <p:cNvPr id="3" name="Content Placeholder 2"/>
          <p:cNvSpPr>
            <a:spLocks noGrp="1"/>
          </p:cNvSpPr>
          <p:nvPr>
            <p:ph idx="1"/>
          </p:nvPr>
        </p:nvSpPr>
        <p:spPr/>
        <p:txBody>
          <a:bodyPr/>
          <a:lstStyle/>
          <a:p>
            <a:pPr/>
            <a:r>
              <a:rPr sz="1800" b="0">
                <a:solidFill>
                  <a:srgbClr val="000000"/>
                </a:solidFill>
                <a:latin typeface="Calibri"/>
              </a:rPr>
              <a:t>Tungsten is used in vibration motors due to its high density. It enables compact motors that provide effective haptic feedback.</a:t>
            </a:r>
          </a:p>
          <a:p>
            <a:pPr/>
            <a:r>
              <a:rPr sz="1800" b="0">
                <a:solidFill>
                  <a:srgbClr val="000000"/>
                </a:solidFill>
                <a:latin typeface="Calibri"/>
              </a:rPr>
              <a:t>High density metal</a:t>
            </a:r>
          </a:p>
          <a:p>
            <a:pPr/>
            <a:r>
              <a:rPr sz="1800" b="0">
                <a:solidFill>
                  <a:srgbClr val="000000"/>
                </a:solidFill>
                <a:latin typeface="Calibri"/>
              </a:rPr>
              <a:t>Used in vibration units</a:t>
            </a:r>
          </a:p>
          <a:p>
            <a:pPr/>
            <a:r>
              <a:rPr sz="1800" b="0">
                <a:solidFill>
                  <a:srgbClr val="000000"/>
                </a:solidFill>
                <a:latin typeface="Calibri"/>
              </a:rPr>
              <a:t>Enhances user experience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Magnesium Alloys in Smartphones</a:t>
            </a:r>
          </a:p>
          <a:p>
            <a:pPr lvl="1"/>
            <a:r>
              <a:t>Structural Enhancement</a:t>
            </a:r>
          </a:p>
        </p:txBody>
      </p:sp>
      <p:sp>
        <p:nvSpPr>
          <p:cNvPr id="3" name="Content Placeholder 2"/>
          <p:cNvSpPr>
            <a:spLocks noGrp="1"/>
          </p:cNvSpPr>
          <p:nvPr>
            <p:ph idx="1"/>
          </p:nvPr>
        </p:nvSpPr>
        <p:spPr/>
        <p:txBody>
          <a:bodyPr/>
          <a:lstStyle/>
          <a:p>
            <a:pPr/>
            <a:r>
              <a:rPr sz="1800" b="0">
                <a:solidFill>
                  <a:srgbClr val="000000"/>
                </a:solidFill>
                <a:latin typeface="Calibri"/>
              </a:rPr>
              <a:t>Magnesium alloys are sometimes used to reduce weight while maintaining structural strength. They contribute to lightweight device design.</a:t>
            </a:r>
          </a:p>
          <a:p>
            <a:pPr/>
            <a:r>
              <a:rPr sz="1800" b="0">
                <a:solidFill>
                  <a:srgbClr val="000000"/>
                </a:solidFill>
                <a:latin typeface="Calibri"/>
              </a:rPr>
              <a:t>Lightweight material</a:t>
            </a:r>
          </a:p>
          <a:p>
            <a:pPr/>
            <a:r>
              <a:rPr sz="1800" b="0">
                <a:solidFill>
                  <a:srgbClr val="000000"/>
                </a:solidFill>
                <a:latin typeface="Calibri"/>
              </a:rPr>
              <a:t>High strength-to-weight ratio</a:t>
            </a:r>
          </a:p>
          <a:p>
            <a:pPr/>
            <a:r>
              <a:rPr sz="1800" b="0">
                <a:solidFill>
                  <a:srgbClr val="000000"/>
                </a:solidFill>
                <a:latin typeface="Calibri"/>
              </a:rPr>
              <a:t>Improves portability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Iron and Steel Components</a:t>
            </a:r>
          </a:p>
          <a:p>
            <a:pPr lvl="1"/>
            <a:r>
              <a:t>Mechanical Strength</a:t>
            </a:r>
          </a:p>
        </p:txBody>
      </p:sp>
      <p:sp>
        <p:nvSpPr>
          <p:cNvPr id="3" name="Content Placeholder 2"/>
          <p:cNvSpPr>
            <a:spLocks noGrp="1"/>
          </p:cNvSpPr>
          <p:nvPr>
            <p:ph idx="1"/>
          </p:nvPr>
        </p:nvSpPr>
        <p:spPr/>
        <p:txBody>
          <a:bodyPr/>
          <a:lstStyle/>
          <a:p>
            <a:pPr/>
            <a:r>
              <a:rPr sz="1800" b="0">
                <a:solidFill>
                  <a:srgbClr val="000000"/>
                </a:solidFill>
                <a:latin typeface="Calibri"/>
              </a:rPr>
              <a:t>Iron and steel are used in screws, shields, and internal supports. They provide mechanical strength and structural stability.</a:t>
            </a:r>
          </a:p>
          <a:p>
            <a:pPr/>
            <a:r>
              <a:rPr sz="1800" b="0">
                <a:solidFill>
                  <a:srgbClr val="000000"/>
                </a:solidFill>
                <a:latin typeface="Calibri"/>
              </a:rPr>
              <a:t>High mechanical strength</a:t>
            </a:r>
          </a:p>
          <a:p>
            <a:pPr/>
            <a:r>
              <a:rPr sz="1800" b="0">
                <a:solidFill>
                  <a:srgbClr val="000000"/>
                </a:solidFill>
                <a:latin typeface="Calibri"/>
              </a:rPr>
              <a:t>Used in fasteners</a:t>
            </a:r>
          </a:p>
          <a:p>
            <a:pPr/>
            <a:r>
              <a:rPr sz="1800" b="0">
                <a:solidFill>
                  <a:srgbClr val="000000"/>
                </a:solidFill>
                <a:latin typeface="Calibri"/>
              </a:rPr>
              <a:t>Provides rigidity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Zinc in Protective Coatings</a:t>
            </a:r>
          </a:p>
          <a:p>
            <a:pPr lvl="1"/>
            <a:r>
              <a:t>Corrosion Prevention</a:t>
            </a:r>
          </a:p>
        </p:txBody>
      </p:sp>
      <p:sp>
        <p:nvSpPr>
          <p:cNvPr id="3" name="Content Placeholder 2"/>
          <p:cNvSpPr>
            <a:spLocks noGrp="1"/>
          </p:cNvSpPr>
          <p:nvPr>
            <p:ph idx="1"/>
          </p:nvPr>
        </p:nvSpPr>
        <p:spPr/>
        <p:txBody>
          <a:bodyPr/>
          <a:lstStyle/>
          <a:p>
            <a:pPr/>
            <a:r>
              <a:rPr sz="1800" b="0">
                <a:solidFill>
                  <a:srgbClr val="000000"/>
                </a:solidFill>
                <a:latin typeface="Calibri"/>
              </a:rPr>
              <a:t>Zinc is used in coatings and alloys to prevent corrosion of steel components. It enhances durability and lifespan.</a:t>
            </a:r>
          </a:p>
          <a:p>
            <a:pPr/>
            <a:r>
              <a:rPr sz="1800" b="0">
                <a:solidFill>
                  <a:srgbClr val="000000"/>
                </a:solidFill>
                <a:latin typeface="Calibri"/>
              </a:rPr>
              <a:t>Corrosion resistance</a:t>
            </a:r>
          </a:p>
          <a:p>
            <a:pPr/>
            <a:r>
              <a:rPr sz="1800" b="0">
                <a:solidFill>
                  <a:srgbClr val="000000"/>
                </a:solidFill>
                <a:latin typeface="Calibri"/>
              </a:rPr>
              <a:t>Used in galvanization</a:t>
            </a:r>
          </a:p>
          <a:p>
            <a:pPr/>
            <a:r>
              <a:rPr sz="1800" b="0">
                <a:solidFill>
                  <a:srgbClr val="000000"/>
                </a:solidFill>
                <a:latin typeface="Calibri"/>
              </a:rPr>
              <a:t>Extends component life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Tantalum in Capacitors</a:t>
            </a:r>
          </a:p>
          <a:p>
            <a:pPr lvl="1"/>
            <a:r>
              <a:t>Charge Storage</a:t>
            </a:r>
          </a:p>
        </p:txBody>
      </p:sp>
      <p:sp>
        <p:nvSpPr>
          <p:cNvPr id="3" name="Content Placeholder 2"/>
          <p:cNvSpPr>
            <a:spLocks noGrp="1"/>
          </p:cNvSpPr>
          <p:nvPr>
            <p:ph idx="1"/>
          </p:nvPr>
        </p:nvSpPr>
        <p:spPr/>
        <p:txBody>
          <a:bodyPr/>
          <a:lstStyle/>
          <a:p>
            <a:pPr/>
            <a:r>
              <a:rPr sz="1800" b="0">
                <a:solidFill>
                  <a:srgbClr val="000000"/>
                </a:solidFill>
                <a:latin typeface="Calibri"/>
              </a:rPr>
              <a:t>Tantalum is used in capacitors due to its ability to store and release electrical energy efficiently. It is critical for stable device operation.</a:t>
            </a:r>
          </a:p>
          <a:p>
            <a:pPr/>
            <a:r>
              <a:rPr sz="1800" b="0">
                <a:solidFill>
                  <a:srgbClr val="000000"/>
                </a:solidFill>
                <a:latin typeface="Calibri"/>
              </a:rPr>
              <a:t>High capacitance</a:t>
            </a:r>
          </a:p>
          <a:p>
            <a:pPr/>
            <a:r>
              <a:rPr sz="1800" b="0">
                <a:solidFill>
                  <a:srgbClr val="000000"/>
                </a:solidFill>
                <a:latin typeface="Calibri"/>
              </a:rPr>
              <a:t>Stable performance</a:t>
            </a:r>
          </a:p>
          <a:p>
            <a:pPr/>
            <a:r>
              <a:rPr sz="1800" b="0">
                <a:solidFill>
                  <a:srgbClr val="000000"/>
                </a:solidFill>
                <a:latin typeface="Calibri"/>
              </a:rPr>
              <a:t>Used in micro-capacitors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Platinum Group Metals</a:t>
            </a:r>
          </a:p>
          <a:p>
            <a:pPr lvl="1"/>
            <a:r>
              <a:t>Specialized Functions</a:t>
            </a:r>
          </a:p>
        </p:txBody>
      </p:sp>
      <p:sp>
        <p:nvSpPr>
          <p:cNvPr id="3" name="Content Placeholder 2"/>
          <p:cNvSpPr>
            <a:spLocks noGrp="1"/>
          </p:cNvSpPr>
          <p:nvPr>
            <p:ph idx="1"/>
          </p:nvPr>
        </p:nvSpPr>
        <p:spPr/>
        <p:txBody>
          <a:bodyPr/>
          <a:lstStyle/>
          <a:p>
            <a:pPr/>
            <a:r>
              <a:rPr sz="1800" b="0">
                <a:solidFill>
                  <a:srgbClr val="000000"/>
                </a:solidFill>
                <a:latin typeface="Calibri"/>
              </a:rPr>
              <a:t>Platinum group metals are used in small quantities for sensors and specialized electronic functions due to their catalytic and conductive properties.</a:t>
            </a:r>
          </a:p>
          <a:p>
            <a:pPr/>
            <a:r>
              <a:rPr sz="1800" b="0">
                <a:solidFill>
                  <a:srgbClr val="000000"/>
                </a:solidFill>
                <a:latin typeface="Calibri"/>
              </a:rPr>
              <a:t>Used in sensors</a:t>
            </a:r>
          </a:p>
          <a:p>
            <a:pPr/>
            <a:r>
              <a:rPr sz="1800" b="0">
                <a:solidFill>
                  <a:srgbClr val="000000"/>
                </a:solidFill>
                <a:latin typeface="Calibri"/>
              </a:rPr>
              <a:t>High chemical stability</a:t>
            </a:r>
          </a:p>
          <a:p>
            <a:pPr/>
            <a:r>
              <a:rPr sz="1800" b="0">
                <a:solidFill>
                  <a:srgbClr val="000000"/>
                </a:solidFill>
                <a:latin typeface="Calibri"/>
              </a:rPr>
              <a:t>Specialized applications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Environmental Impact of Metal Extraction</a:t>
            </a:r>
          </a:p>
          <a:p>
            <a:pPr lvl="1"/>
            <a:r>
              <a:t>Sustainability Concerns</a:t>
            </a:r>
          </a:p>
        </p:txBody>
      </p:sp>
      <p:sp>
        <p:nvSpPr>
          <p:cNvPr id="3" name="Content Placeholder 2"/>
          <p:cNvSpPr>
            <a:spLocks noGrp="1"/>
          </p:cNvSpPr>
          <p:nvPr>
            <p:ph idx="1"/>
          </p:nvPr>
        </p:nvSpPr>
        <p:spPr/>
        <p:txBody>
          <a:bodyPr/>
          <a:lstStyle/>
          <a:p>
            <a:pPr/>
            <a:r>
              <a:rPr sz="1800" b="0">
                <a:solidFill>
                  <a:srgbClr val="000000"/>
                </a:solidFill>
                <a:latin typeface="Calibri"/>
              </a:rPr>
              <a:t>The extraction of metals for smartphones has environmental consequences, including habitat destruction and pollution. Sustainable sourcing is a growing concern.</a:t>
            </a:r>
          </a:p>
          <a:p>
            <a:pPr/>
            <a:r>
              <a:rPr sz="1800" b="0">
                <a:solidFill>
                  <a:srgbClr val="000000"/>
                </a:solidFill>
                <a:latin typeface="Calibri"/>
              </a:rPr>
              <a:t>Mining-related pollution</a:t>
            </a:r>
          </a:p>
          <a:p>
            <a:pPr/>
            <a:r>
              <a:rPr sz="1800" b="0">
                <a:solidFill>
                  <a:srgbClr val="000000"/>
                </a:solidFill>
                <a:latin typeface="Calibri"/>
              </a:rPr>
              <a:t>Resource depletion</a:t>
            </a:r>
          </a:p>
          <a:p>
            <a:pPr/>
            <a:r>
              <a:rPr sz="1800" b="0">
                <a:solidFill>
                  <a:srgbClr val="000000"/>
                </a:solidFill>
                <a:latin typeface="Calibri"/>
              </a:rPr>
              <a:t>Need for sustainable practices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Recycling Metals from Smartphones</a:t>
            </a:r>
          </a:p>
          <a:p>
            <a:pPr lvl="1"/>
            <a:r>
              <a:t>Urban Mining</a:t>
            </a:r>
          </a:p>
        </p:txBody>
      </p:sp>
      <p:sp>
        <p:nvSpPr>
          <p:cNvPr id="3" name="Content Placeholder 2"/>
          <p:cNvSpPr>
            <a:spLocks noGrp="1"/>
          </p:cNvSpPr>
          <p:nvPr>
            <p:ph idx="1"/>
          </p:nvPr>
        </p:nvSpPr>
        <p:spPr/>
        <p:txBody>
          <a:bodyPr/>
          <a:lstStyle/>
          <a:p>
            <a:pPr/>
            <a:r>
              <a:rPr sz="1800" b="0">
                <a:solidFill>
                  <a:srgbClr val="000000"/>
                </a:solidFill>
                <a:latin typeface="Calibri"/>
              </a:rPr>
              <a:t>Recycling smartphones allows recovery of valuable metals, reducing the need for new mining. Urban mining is an important strategy for sustainability.</a:t>
            </a:r>
          </a:p>
          <a:p>
            <a:pPr/>
            <a:r>
              <a:rPr sz="1800" b="0">
                <a:solidFill>
                  <a:srgbClr val="000000"/>
                </a:solidFill>
                <a:latin typeface="Calibri"/>
              </a:rPr>
              <a:t>Recovery of precious metals</a:t>
            </a:r>
          </a:p>
          <a:p>
            <a:pPr/>
            <a:r>
              <a:rPr sz="1800" b="0">
                <a:solidFill>
                  <a:srgbClr val="000000"/>
                </a:solidFill>
                <a:latin typeface="Calibri"/>
              </a:rPr>
              <a:t>Reduces environmental impact</a:t>
            </a:r>
          </a:p>
          <a:p>
            <a:pPr/>
            <a:r>
              <a:rPr sz="1800" b="0">
                <a:solidFill>
                  <a:srgbClr val="000000"/>
                </a:solidFill>
                <a:latin typeface="Calibri"/>
              </a:rPr>
              <a:t>Supports circular economy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Trends in Smartphone Metals</a:t>
            </a:r>
          </a:p>
          <a:p>
            <a:pPr lvl="1"/>
            <a:r>
              <a:t>Material Innovation</a:t>
            </a:r>
          </a:p>
        </p:txBody>
      </p:sp>
      <p:sp>
        <p:nvSpPr>
          <p:cNvPr id="3" name="Content Placeholder 2"/>
          <p:cNvSpPr>
            <a:spLocks noGrp="1"/>
          </p:cNvSpPr>
          <p:nvPr>
            <p:ph idx="1"/>
          </p:nvPr>
        </p:nvSpPr>
        <p:spPr/>
        <p:txBody>
          <a:bodyPr/>
          <a:lstStyle/>
          <a:p>
            <a:pPr/>
            <a:r>
              <a:rPr sz="1800" b="0">
                <a:solidFill>
                  <a:srgbClr val="000000"/>
                </a:solidFill>
                <a:latin typeface="Calibri"/>
              </a:rPr>
              <a:t>Research is ongoing to develop alternative materials and reduce reliance on scarce metals. Innovations aim to improve sustainability and performance.</a:t>
            </a:r>
          </a:p>
          <a:p>
            <a:pPr/>
            <a:r>
              <a:rPr sz="1800" b="0">
                <a:solidFill>
                  <a:srgbClr val="000000"/>
                </a:solidFill>
                <a:latin typeface="Calibri"/>
              </a:rPr>
              <a:t>Development of substitutes</a:t>
            </a:r>
          </a:p>
          <a:p>
            <a:pPr/>
            <a:r>
              <a:rPr sz="1800" b="0">
                <a:solidFill>
                  <a:srgbClr val="000000"/>
                </a:solidFill>
                <a:latin typeface="Calibri"/>
              </a:rPr>
              <a:t>Improved material efficiency</a:t>
            </a:r>
          </a:p>
          <a:p>
            <a:pPr/>
            <a:r>
              <a:rPr sz="1800" b="0">
                <a:solidFill>
                  <a:srgbClr val="000000"/>
                </a:solidFill>
                <a:latin typeface="Calibri"/>
              </a:rPr>
              <a:t>Focus on sustainability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Role of Chemistry in Smartphone Design</a:t>
            </a:r>
          </a:p>
          <a:p>
            <a:pPr lvl="1"/>
            <a:r>
              <a:t>Interdisciplinary Approach</a:t>
            </a:r>
          </a:p>
        </p:txBody>
      </p:sp>
      <p:sp>
        <p:nvSpPr>
          <p:cNvPr id="3" name="Content Placeholder 2"/>
          <p:cNvSpPr>
            <a:spLocks noGrp="1"/>
          </p:cNvSpPr>
          <p:nvPr>
            <p:ph idx="1"/>
          </p:nvPr>
        </p:nvSpPr>
        <p:spPr/>
        <p:txBody>
          <a:bodyPr/>
          <a:lstStyle/>
          <a:p>
            <a:pPr/>
            <a:r>
              <a:rPr sz="1800" b="0">
                <a:solidFill>
                  <a:srgbClr val="000000"/>
                </a:solidFill>
                <a:latin typeface="Calibri"/>
              </a:rPr>
              <a:t>Chemistry plays a central role in selecting, processing, and optimizing metals for smartphone applications. It connects material properties with device performance.</a:t>
            </a:r>
          </a:p>
          <a:p>
            <a:pPr/>
            <a:r>
              <a:rPr sz="1800" b="0">
                <a:solidFill>
                  <a:srgbClr val="000000"/>
                </a:solidFill>
                <a:latin typeface="Calibri"/>
              </a:rPr>
              <a:t>Material selection</a:t>
            </a:r>
          </a:p>
          <a:p>
            <a:pPr/>
            <a:r>
              <a:rPr sz="1800" b="0">
                <a:solidFill>
                  <a:srgbClr val="000000"/>
                </a:solidFill>
                <a:latin typeface="Calibri"/>
              </a:rPr>
              <a:t>Property optimization</a:t>
            </a:r>
          </a:p>
          <a:p>
            <a:pPr/>
            <a:r>
              <a:rPr sz="1800" b="0">
                <a:solidFill>
                  <a:srgbClr val="000000"/>
                </a:solidFill>
                <a:latin typeface="Calibri"/>
              </a:rPr>
              <a:t>Innovation through chemistry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Why Metals Matter in Smartphones</a:t>
            </a:r>
          </a:p>
          <a:p>
            <a:pPr lvl="1"/>
            <a:r>
              <a:t>Summary and Significance</a:t>
            </a:r>
          </a:p>
        </p:txBody>
      </p:sp>
      <p:sp>
        <p:nvSpPr>
          <p:cNvPr id="3" name="Content Placeholder 2"/>
          <p:cNvSpPr>
            <a:spLocks noGrp="1"/>
          </p:cNvSpPr>
          <p:nvPr>
            <p:ph idx="1"/>
          </p:nvPr>
        </p:nvSpPr>
        <p:spPr/>
        <p:txBody>
          <a:bodyPr/>
          <a:lstStyle/>
          <a:p>
            <a:pPr/>
            <a:r>
              <a:rPr sz="1800" b="0">
                <a:solidFill>
                  <a:srgbClr val="000000"/>
                </a:solidFill>
                <a:latin typeface="Calibri"/>
              </a:rPr>
              <a:t>Metals are fundamental to every aspect of smartphone functionality, from energy storage to display quality. Understanding their roles highlights the importance of chemistry in modern technology and encourages responsible use of resources.</a:t>
            </a:r>
          </a:p>
          <a:p>
            <a:pPr/>
            <a:r>
              <a:rPr sz="1800" b="0">
                <a:solidFill>
                  <a:srgbClr val="000000"/>
                </a:solidFill>
                <a:latin typeface="Calibri"/>
              </a:rPr>
              <a:t>Essential for performance and durability</a:t>
            </a:r>
          </a:p>
          <a:p>
            <a:pPr/>
            <a:r>
              <a:rPr sz="1800" b="0">
                <a:solidFill>
                  <a:srgbClr val="000000"/>
                </a:solidFill>
                <a:latin typeface="Calibri"/>
              </a:rPr>
              <a:t>Enable advanced features</a:t>
            </a:r>
          </a:p>
          <a:p>
            <a:pPr/>
            <a:r>
              <a:rPr sz="1800" b="0">
                <a:solidFill>
                  <a:srgbClr val="000000"/>
                </a:solidFill>
                <a:latin typeface="Calibri"/>
              </a:rPr>
              <a:t>Highlight need for sustainable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